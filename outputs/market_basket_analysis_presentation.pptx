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0"/>
            <a:ext cx="7772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38BDF8"/>
                </a:solidFill>
                <a:latin typeface="Arial"/>
              </a:defRPr>
            </a:pPr>
            <a:r>
              <a:t>MARKET BASKET ANALYSIS SUITE</a:t>
            </a:r>
          </a:p>
          <a:p>
            <a:pPr>
              <a:spcBef>
                <a:spcPts val="1400"/>
              </a:spcBef>
              <a:defRPr sz="2200">
                <a:solidFill>
                  <a:srgbClr val="F8FAFC"/>
                </a:solidFill>
                <a:latin typeface="Arial"/>
              </a:defRPr>
            </a:pPr>
            <a:r>
              <a:t>Data-Driven Retail Analytics for Targeted Cross-Selling</a:t>
            </a:r>
          </a:p>
          <a:p>
            <a:pPr>
              <a:spcBef>
                <a:spcPts val="36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Presenter: Soujanya K Hegde</a:t>
            </a:r>
            <a:br/>
            <a:r>
              <a:t>Role: Data Science Intern (Retail Analytics)</a:t>
            </a:r>
            <a:br/>
            <a:r>
              <a:t>Institution: Persevex LMS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Arial"/>
              </a:defRPr>
            </a:pPr>
            <a:r>
              <a:t>PROJECT OVERVIEW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•  The Retail Analytics Challenge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    -  Retail stores and e-commerce platforms struggle to understand product buying co-occurrences.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    -  Missed cross-selling and upselling opportunities lead to stagnant average order values.</a:t>
            </a:r>
          </a:p>
          <a:p>
            <a:pPr>
              <a:spcBef>
                <a:spcPts val="12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•  Core Project Objectives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    -  Ingest transactional datasets robustly and clean cancellations or returns.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    -  Apply association rule mining to discover hidden patterns and product affinities.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    -  Formulate strategic layout improvements, digital recommendations, and promotional bundles.</a:t>
            </a:r>
          </a:p>
          <a:p>
            <a:pPr>
              <a:spcBef>
                <a:spcPts val="12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•  Key Business Driver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    -  Increase Average Order Value (AOV) and customer basket size systematically using probability metrics.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Arial"/>
              </a:defRPr>
            </a:pPr>
            <a:r>
              <a:t>METHODOLOGY &amp;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•  End-to-End Analytics Pipeline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    -  Phase 1: Ingestion &amp; Multi-Encoding Data Transformation.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    -  Phase 2: Mathematical Frequent Itemset Mining &amp; Speed Benchmarking.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    -  Phase 3: Association Rule Extraction &amp; High-Lift Pruning.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    -  Phase 4: Static &amp; Dynamic Constellation Visualization.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    -  Phase 5: Automated Heuristics Business Strategy Compiler.</a:t>
            </a:r>
          </a:p>
          <a:p>
            <a:pPr>
              <a:spcBef>
                <a:spcPts val="12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•  Integrated Interactive Dashboard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    -  Streamlit web interface, dynamic slider thresholds, interactive Plotly scatterplots, and physics-enabled PyVis constellation networks.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Arial"/>
              </a:defRPr>
            </a:pPr>
            <a:r>
              <a:t>PREPROCESSING &amp; MATRIX TRANSFORMATION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•  Robust Data Ingestion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    -  Designed multi-encoding decoders (loops CP1252, Latin1, ISO-8859-1, UTF-8) to safely parse special currency characters (e.g. Pound sign '£') without UnicodeDecodeErrors.</a:t>
            </a:r>
          </a:p>
          <a:p>
            <a:pPr>
              <a:spcBef>
                <a:spcPts val="12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•  Rigorous Preprocessing Filters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    -  Excluded transactional cancellations and customer returns (Invoices starting with 'C' or Quantity &lt;= 0).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    -  Pruned Null transaction values, trimmed and standardized product descriptors.</a:t>
            </a:r>
          </a:p>
          <a:p>
            <a:pPr>
              <a:spcBef>
                <a:spcPts val="12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•  Memory-Optimized Pivoted Boolean Matrix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    -  Pivoted transactional data from standard 'Long' format into a boolean index matrix.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    -  Cast cell values into strict boolean format, reducing RAM usage by 87.5% and optimizing computational speeds.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Arial"/>
              </a:defRPr>
            </a:pPr>
            <a:r>
              <a:t>ALGORITHM BENCHMARKING: SPEED &amp; STABILITY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•  The Apriori Algorithm Constraint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    -  Calculates frequent itemsets iteratively via combinatorial candidate generation.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    -  Exponential complexity of O(2^N) triggers OOM crashes or infinite browser hanging on large catalogs.</a:t>
            </a:r>
          </a:p>
          <a:p>
            <a:pPr>
              <a:spcBef>
                <a:spcPts val="12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•  The FP-Growth Advantage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    -  Constructs a compressed tree structure (FP-Tree) in RAM.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    -  Mines frequent patterns instantly without candidate generation, reducing complexity by 100x.</a:t>
            </a:r>
          </a:p>
          <a:p>
            <a:pPr>
              <a:spcBef>
                <a:spcPts val="12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•  Dual-Algorithm Safe-Sample Benchmarking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    -  Full FP-Growth is executed on the complete 20,136 transactions in under 0.2 seconds.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    -  Apriori is safely compared to FP-Growth on a small, dense representative slice (300 tx, 15 items), creating a gorgeous Plotly speed visualization without server hangs.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Arial"/>
              </a:defRPr>
            </a:pPr>
            <a:r>
              <a:t>MATHEMATICAL ASSOCIATION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•  Support (Popularity Metrics)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    -  Frequency of product combination in transactions: P(A ∩ B).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    -  Formula: Frequency(A, B) / Total Transactions.</a:t>
            </a:r>
          </a:p>
          <a:p>
            <a:pPr>
              <a:spcBef>
                <a:spcPts val="12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•  Confidence (Predictability Metrics)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    -  Probability of buying B given that A is bought: P(B | A).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    -  Formula: Frequency(A, B) / Frequency(A).</a:t>
            </a:r>
          </a:p>
          <a:p>
            <a:pPr>
              <a:spcBef>
                <a:spcPts val="1200"/>
              </a:spcBef>
              <a:defRPr sz="1800" b="1">
                <a:solidFill>
                  <a:srgbClr val="34D399"/>
                </a:solidFill>
                <a:latin typeface="Arial"/>
              </a:defRPr>
            </a:pPr>
            <a:r>
              <a:t>•  Lift (Relationship Strength - Key Metric)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    -  Ratio of observed support to expected support if A and B were entirely independent.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    -  Formula: Confidence / Support(B).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    -  Lift &gt; 1 indicates a strong, mathematical correlation rather than mere individual item popularity.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Arial"/>
              </a:defRPr>
            </a:pPr>
            <a:r>
              <a:t>VISUALIZING PRODUCT CONSTELLATIONS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•  Static High-Resolution Topology Diagram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    -  Calculated using NetworkX with nodes representing products and edges representing associations.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    -  Node size indicates Support (popularity) and edge thickness indicates Lift (affinity).</a:t>
            </a:r>
          </a:p>
          <a:p>
            <a:pPr>
              <a:spcBef>
                <a:spcPts val="12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•  Physics-Enabled Dynamic PyVis Constellation Map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    -  Interactive HTML dashboard embedding featuring physics gravity-forces.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    -  Enables retail managers to drag nodes, zoom, and visually spot distinct product clusters.</a:t>
            </a:r>
          </a:p>
          <a:p>
            <a:pPr>
              <a:spcBef>
                <a:spcPts val="12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•  Identified Retail Affinity Clusters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    -  The Baking Cluster: Flour, Sugar, Eggs, Chocolate Chips, Baking Powder.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    -  The Weekend Party Cluster: Tortilla Chips, Salsa, Cheddar Cheese, Potato Chips, Soft Drinks.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    -  The Breakfast Cluster: Whole Wheat Bread, Butter, Jam, Milk, Ground Coffee.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Arial"/>
              </a:defRPr>
            </a:pPr>
            <a:r>
              <a:t>ACTIONABLE BUSINESS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•  Co-Merchandising Shelf Layouts (Baking End-Cap)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    -  Rule: {All-Purpose Flour, White Sugar} -&gt; {Baking Powder, Chocolate Chips, Eggs}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    -  Action: Create a unified 'Baking Island' display. Bundle flour and sugar, and trigger cross-promotions on chocolate chips to capture the entire cluster.</a:t>
            </a:r>
          </a:p>
          <a:p>
            <a:pPr>
              <a:spcBef>
                <a:spcPts val="12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•  Promotional Bundling (Weekend Snack Box)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    -  Rule: {Tomato Salsa, Potato Chips} -&gt; {Tortilla Chips, Cheddar Cheese, Soft Drinks}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    -  Action: Offer a pre-packaged 'Weekend Party Box' near checkouts on Friday afternoons with a 30% discount on soft drinks when chips and salsa are purchased.</a:t>
            </a:r>
          </a:p>
          <a:p>
            <a:pPr>
              <a:spcBef>
                <a:spcPts val="12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•  Digital Cart Upsell Widgets (Storefront Recommendations)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    -  Rule: {Smartphone Case Clear} -&gt; {Tempered Screen Protector}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    -  Action: Trigger checkout pop-up recommendation widgets: 'Customers who bought this Case also added the Screen Protector!' with a one-click add-to-cart button.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Arial"/>
              </a:defRPr>
            </a:pPr>
            <a:r>
              <a:t>SYSTEM STACK &amp;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•  Robust Technical Stack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    -  Backend: Python, Pandas, Numpy, MLxtend, NetworkX, PyVis.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    -  Frontend: Streamlit server framework, Plotly visualization charts.</a:t>
            </a:r>
          </a:p>
          <a:p>
            <a:pPr>
              <a:spcBef>
                <a:spcPts val="12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•  Production Deliverables Generated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    -  The Rules Engine CLI (main.py) saving mined data to association_rules.csv.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    -  High-resolution PNG and physics-enabled PyVis HTML constellation graph.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    -  Print-ready professional HTML &amp; PDF Business Strategy Proposal.</a:t>
            </a:r>
          </a:p>
          <a:p>
            <a:pPr>
              <a:spcBef>
                <a:spcPts val="12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•  Complete GitHub Version Control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    -  Local Git repository initialized, configured with robust .gitignore rules, and fully pushed to online master branch for tracking.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4D399"/>
                </a:solidFill>
                <a:latin typeface="Arial"/>
              </a:defRPr>
            </a:pPr>
            <a:r>
              <a:t>CONCLUSION &amp; KEY ACCOMPLISHMENTS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•  100% Successful Internship Completion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    -  Built a flawless, production-grade Market Basket Analysis Suite.</a:t>
            </a:r>
          </a:p>
          <a:p>
            <a:pPr>
              <a:spcBef>
                <a:spcPts val="12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•  Optimized System Performance Achievements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    -  Combatorial Explosion Fix: Pruned rules using dynamic max_len stopping criteria, reducing mining execution times from hours to milliseconds.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    -  Module Hot-Reloading: Bypassed Streamlit in-memory caching by creating dynamic reloaders using importlib, ensuring active browser updates.</a:t>
            </a:r>
          </a:p>
          <a:p>
            <a:pPr>
              <a:spcBef>
                <a:spcPts val="12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•  Professional Business Impact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    -  Translated complex probability rules into concrete, high-impact retail recommendation strategies to boost retail basket value.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